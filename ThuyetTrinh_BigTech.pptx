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5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35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bìa. Điền tên sinh viên, giảng viên và lớp vào chỗ trống. 5 cổ phiếu được nghiên cứu: AAPL, MSFT, GOOGL, META, AMZN.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Nội dung 5 phần chính. Tổng thời gian thuyết trình khoảng 15–20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mạnh: tại sao chọn Big Tech và tại sao giai đoạn 2019–2024 đặc biệt thú vị (bao gồm COVID, suy giảm 2022, AI boom 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Dữ liệu lấy bằng yfinance. Nhấn mạnh: Close price là cột chính dùng để phân tích và dự đoán.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tổng quan 5 câu hỏi phân tích EDA. Mỗi câu hỏi sẽ được trả lời bằng biểu đồ cụ thể.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Nhấn mạnh 4 sự kiện lớn đánh dấu bằng đường dọc trên biểu đồ. Q2: So sánh cumulative return — ai tăng nhiều nhất?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Heatmap tương quan — giải thích tại sao tương quan cao lại quan trọng với nhà đầu tư đa dạng hóa. Q4: So sánh volatility hàng năm.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Q5: Volume đột biến là tín hiệu thú vị. Nhấn mạnh mối quan hệ nhân quả không đơn giản — volume cao không nhất thiết đồng nghĩa với giá tăng.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Prophet: mô hình cộng gộp 3 thành phần. Kết quả gồm yhat (dự đoán) và khoảng tin cậy 80%. Nhấn mạnh đây là dự đoán thống kê, không phải khuyến nghị đầu tư.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với k=3. Features: lợi nhuận trung bình tháng + độ biến động trung bình tháng. Dữ liệu được chuẩn hóa bằng StandardScaler trước khi phân cụm.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 ngắn gọn, nhấn mạnh những điểm nổi bật nhất. Sẵn sàng trả lời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cuối. Mời hội đồng đặt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7400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0785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9190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7331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23-Jun-26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4403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23-Jun-26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5393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23-Jun-26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3475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1751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23-Jun-26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6272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8418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23-Jun-26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1605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63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23-Jun-26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80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4FC3F7">
              <a:alpha val="18000"/>
            </a:srgbClr>
          </a:solidFill>
          <a:ln w="12700">
            <a:solidFill>
              <a:srgbClr val="4FC3F7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949440" y="-457200"/>
            <a:ext cx="2560320" cy="2560320"/>
          </a:xfrm>
          <a:prstGeom prst="ellipse">
            <a:avLst/>
          </a:prstGeom>
          <a:solidFill>
            <a:srgbClr val="FFD54F">
              <a:alpha val="20000"/>
            </a:srgbClr>
          </a:solidFill>
          <a:ln w="12700">
            <a:solidFill>
              <a:srgbClr val="FFD54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475488"/>
            <a:ext cx="2377440" cy="347472"/>
          </a:xfrm>
          <a:prstGeom prst="roundRect">
            <a:avLst>
              <a:gd name="adj" fmla="val 23684"/>
            </a:avLst>
          </a:prstGeom>
          <a:solidFill>
            <a:srgbClr val="4FC3F7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75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HỌC DỮ LIỆU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Phân</a:t>
            </a:r>
            <a:r>
              <a:rPr lang="en-US" sz="3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tích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Giá Cổ phiếu Nhóm Big Tech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Giai đoạn 2019 – 2024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2944368"/>
            <a:ext cx="2011680" cy="36576"/>
          </a:xfrm>
          <a:prstGeom prst="rect">
            <a:avLst/>
          </a:prstGeom>
          <a:solidFill>
            <a:srgbClr val="FFD5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154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Sinh viên: Dương </a:t>
            </a:r>
            <a:r>
              <a:rPr lang="en-US" sz="12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Thị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Ly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34747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Giảng </a:t>
            </a:r>
            <a:r>
              <a:rPr lang="en-US" sz="12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viên:Ts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</a:t>
            </a:r>
            <a:r>
              <a:rPr lang="en-US" sz="12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Nguyễn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Văn Huy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3794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Lớp</a:t>
            </a: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K58KTPM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57200" y="448056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5555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AAPL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130552" y="448056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00A4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30552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MSFT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803904" y="448056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34A8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03904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477256" y="448056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877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77256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150608" y="448056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50608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AMZN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NỘI DUNG TRÌNH BÀY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2004"/>
          </a:xfrm>
          <a:prstGeom prst="rect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14300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170432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1430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30352" y="1709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Giới thiệu đề tài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0352" y="20939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Lý do, mục tiêu, phạm vi nghiên cứu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0712" y="114300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1170432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9352" y="11430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410712" y="1709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Giới thiệu dữ liệu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10712" y="20939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Nguồn dữ liệu, mô tả bộ dữ liệu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126480" y="96012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114300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170432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39712" y="11430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291072" y="1709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Phân tích dữ liệu (EDA)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291072" y="20939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câu hỏi phân tích — xu hướng, rủi ro, volume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1600200" y="28346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764792" y="301752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2224" y="3044952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313432" y="3017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764792" y="3584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Mô hình dự </a:t>
            </a:r>
            <a:r>
              <a:rPr lang="en-US" sz="1200" b="1" dirty="0" err="1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đoán</a:t>
            </a: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và</a:t>
            </a: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Phân cụm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1764792" y="39684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Prophet forecasting + K-Means clustering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4480560" y="283464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45152" y="301752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3044952"/>
            <a:ext cx="420624" cy="4206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93792" y="3017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05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4645152" y="3584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Kết luận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4645152" y="39684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Tổng kết, hạn chế, hướng phát triển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01  |  GIỚI THIỆU ĐỀ TÀI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27448" y="91440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10328" y="99057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1800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04688" y="99057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Phương</a:t>
            </a: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pháp</a:t>
            </a: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nghiên</a:t>
            </a: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cứu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10328" y="1520922"/>
            <a:ext cx="3566160" cy="2734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Thu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thập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dữ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liệu</a:t>
            </a:r>
            <a:endParaRPr lang="en-US" sz="13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  <a:buSzPct val="100000"/>
            </a:pPr>
            <a:endParaRPr lang="en-US" sz="13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Tiền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xử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  <a:buSzPct val="100000"/>
            </a:pPr>
            <a:endParaRPr lang="en-US" sz="13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tích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khám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dữ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liệu</a:t>
            </a:r>
            <a:endParaRPr lang="en-US" sz="1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3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Xây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dựng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mô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học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máy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  <a:buSzPct val="100000"/>
            </a:pPr>
            <a:endParaRPr lang="en-US" sz="13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Đánh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</a:t>
            </a:r>
            <a:r>
              <a:rPr lang="en-US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28017" y="914400"/>
            <a:ext cx="42976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5177" y="1088136"/>
            <a:ext cx="502920" cy="5029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9" y="1115568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9537" y="10881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Mục tiêu nghiên cứu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65177" y="172821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65177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94945" y="17282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Phân tích xu hướng giá 5 cổ phiếu Big Tech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65177" y="238658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5177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94945" y="23865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 sánh hiệu suất sinh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lời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và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rủi ro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265177" y="30449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65177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94945" y="30449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Xây dựng mô hình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dự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đoán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xu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hướng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tăng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giảm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265177" y="370332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65177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94945" y="3703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Phân cụm giai đoạn thị trường (K-Means)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9F73D215-3BC5-6882-0EF0-A0B0A5C61ECA}"/>
              </a:ext>
            </a:extLst>
          </p:cNvPr>
          <p:cNvSpPr/>
          <p:nvPr/>
        </p:nvSpPr>
        <p:spPr>
          <a:xfrm>
            <a:off x="5065776" y="1553255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63B3DB75-140F-9DA2-14EE-BBDCE7135F42}"/>
              </a:ext>
            </a:extLst>
          </p:cNvPr>
          <p:cNvSpPr/>
          <p:nvPr/>
        </p:nvSpPr>
        <p:spPr>
          <a:xfrm>
            <a:off x="5038344" y="2166023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97135A66-A03B-FEC6-AF54-6C2F5A73F2D7}"/>
              </a:ext>
            </a:extLst>
          </p:cNvPr>
          <p:cNvSpPr/>
          <p:nvPr/>
        </p:nvSpPr>
        <p:spPr>
          <a:xfrm>
            <a:off x="5038344" y="274320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E18015DB-1B95-1E96-5FCC-79F9712C9D86}"/>
              </a:ext>
            </a:extLst>
          </p:cNvPr>
          <p:cNvSpPr/>
          <p:nvPr/>
        </p:nvSpPr>
        <p:spPr>
          <a:xfrm>
            <a:off x="5038344" y="3364097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19D3B0C3-58C8-6978-4164-8F030CF191DC}"/>
              </a:ext>
            </a:extLst>
          </p:cNvPr>
          <p:cNvSpPr/>
          <p:nvPr/>
        </p:nvSpPr>
        <p:spPr>
          <a:xfrm>
            <a:off x="5038344" y="393314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02  |  GIỚI THIỆU DỮ LIỆU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051560"/>
          </a:xfrm>
          <a:prstGeom prst="roundRect">
            <a:avLst>
              <a:gd name="adj" fmla="val 10435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54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Cổ phiếu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1051560"/>
          </a:xfrm>
          <a:prstGeom prst="roundRect">
            <a:avLst>
              <a:gd name="adj" fmla="val 10435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54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 năm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1460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2019 – 2024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20240" cy="1051560"/>
          </a:xfrm>
          <a:prstGeom prst="roundRect">
            <a:avLst>
              <a:gd name="adj" fmla="val 10435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54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~1.509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Ngày giao dịch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EB0BC6E-0F86-48AC-48E4-50B8F9D0D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220590"/>
              </p:ext>
            </p:extLst>
          </p:nvPr>
        </p:nvGraphicFramePr>
        <p:xfrm>
          <a:off x="252717" y="2130552"/>
          <a:ext cx="5211658" cy="26351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6756">
                  <a:extLst>
                    <a:ext uri="{9D8B030D-6E8A-4147-A177-3AD203B41FA5}">
                      <a16:colId xmlns:a16="http://schemas.microsoft.com/office/drawing/2014/main" val="2554680437"/>
                    </a:ext>
                  </a:extLst>
                </a:gridCol>
                <a:gridCol w="3184902">
                  <a:extLst>
                    <a:ext uri="{9D8B030D-6E8A-4147-A177-3AD203B41FA5}">
                      <a16:colId xmlns:a16="http://schemas.microsoft.com/office/drawing/2014/main" val="58976596"/>
                    </a:ext>
                  </a:extLst>
                </a:gridCol>
              </a:tblGrid>
              <a:tr h="331172"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Tiêu chí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 dirty="0">
                          <a:effectLst/>
                        </a:rPr>
                        <a:t>Chi </a:t>
                      </a:r>
                      <a:r>
                        <a:rPr lang="en-US" sz="1200" dirty="0" err="1">
                          <a:effectLst/>
                        </a:rPr>
                        <a:t>tiết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extLst>
                  <a:ext uri="{0D108BD9-81ED-4DB2-BD59-A6C34878D82A}">
                    <a16:rowId xmlns:a16="http://schemas.microsoft.com/office/drawing/2014/main" val="1315516760"/>
                  </a:ext>
                </a:extLst>
              </a:tr>
              <a:tr h="602179"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Đối tượng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 dirty="0">
                          <a:effectLst/>
                        </a:rPr>
                        <a:t>5 </a:t>
                      </a:r>
                      <a:r>
                        <a:rPr lang="en-US" sz="1200" dirty="0" err="1">
                          <a:effectLst/>
                        </a:rPr>
                        <a:t>cổ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phiếu</a:t>
                      </a:r>
                      <a:r>
                        <a:rPr lang="en-US" sz="1200" dirty="0">
                          <a:effectLst/>
                        </a:rPr>
                        <a:t>: AAPL, MSFT, GOOGL, META, AMZN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extLst>
                  <a:ext uri="{0D108BD9-81ED-4DB2-BD59-A6C34878D82A}">
                    <a16:rowId xmlns:a16="http://schemas.microsoft.com/office/drawing/2014/main" val="3679483852"/>
                  </a:ext>
                </a:extLst>
              </a:tr>
              <a:tr h="331172"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Thời gian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01/01/2019 – 31/12/2024 (6 năm)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extLst>
                  <a:ext uri="{0D108BD9-81ED-4DB2-BD59-A6C34878D82A}">
                    <a16:rowId xmlns:a16="http://schemas.microsoft.com/office/drawing/2014/main" val="266079818"/>
                  </a:ext>
                </a:extLst>
              </a:tr>
              <a:tr h="331172"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Ngôn ngữ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Python 3.x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extLst>
                  <a:ext uri="{0D108BD9-81ED-4DB2-BD59-A6C34878D82A}">
                    <a16:rowId xmlns:a16="http://schemas.microsoft.com/office/drawing/2014/main" val="1757106967"/>
                  </a:ext>
                </a:extLst>
              </a:tr>
              <a:tr h="331172"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Thư viện chính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Pandas, NumPy, Matplotlib, scikit-learn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extLst>
                  <a:ext uri="{0D108BD9-81ED-4DB2-BD59-A6C34878D82A}">
                    <a16:rowId xmlns:a16="http://schemas.microsoft.com/office/drawing/2014/main" val="755625831"/>
                  </a:ext>
                </a:extLst>
              </a:tr>
              <a:tr h="331172"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Công cụ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VS Code + Jupyter Notebook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extLst>
                  <a:ext uri="{0D108BD9-81ED-4DB2-BD59-A6C34878D82A}">
                    <a16:rowId xmlns:a16="http://schemas.microsoft.com/office/drawing/2014/main" val="410114463"/>
                  </a:ext>
                </a:extLst>
              </a:tr>
              <a:tr h="331172"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>
                          <a:effectLst/>
                        </a:rPr>
                        <a:t>Nguồn dữ liệu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tc>
                  <a:txBody>
                    <a:bodyPr/>
                    <a:lstStyle/>
                    <a:p>
                      <a:pPr marL="274320" marR="182880" algn="just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20"/>
                        </a:spcAft>
                      </a:pPr>
                      <a:r>
                        <a:rPr lang="en-US" sz="1200" dirty="0">
                          <a:effectLst/>
                        </a:rPr>
                        <a:t>Yahoo Finance (</a:t>
                      </a:r>
                      <a:r>
                        <a:rPr lang="en-US" sz="1200" dirty="0" err="1">
                          <a:effectLst/>
                        </a:rPr>
                        <a:t>thư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viện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yfinance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9489" marR="69489" marT="46326" marB="46326"/>
                </a:tc>
                <a:extLst>
                  <a:ext uri="{0D108BD9-81ED-4DB2-BD59-A6C34878D82A}">
                    <a16:rowId xmlns:a16="http://schemas.microsoft.com/office/drawing/2014/main" val="303538711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FE67F65-4F00-9C01-C306-5CB826EBA086}"/>
              </a:ext>
            </a:extLst>
          </p:cNvPr>
          <p:cNvSpPr txBox="1"/>
          <p:nvPr/>
        </p:nvSpPr>
        <p:spPr>
          <a:xfrm>
            <a:off x="5337885" y="2432304"/>
            <a:ext cx="3553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-&gt;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những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tài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sản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tư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hấp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dẫn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nhất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chiếm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tỷ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trọng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lớn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quỹ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tư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toàn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cầu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|  PHÂN TÍCH DỮ LIỆU — 5 CÂU HỎI NGHIÊN CỨU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18872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161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4984" y="11704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giá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" y="2139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biến động thế nào qua 2019–2024?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64992" y="118872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2161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95344" y="11704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364992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lời tích lũy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64992" y="2139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 phiếu nào sinh lời tốt nhất?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0058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45352" y="118872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2161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75704" y="11704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245352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45352" y="2139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cổ phiếu có cùng biến động không?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600200" y="278892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764792" y="297180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2224" y="299923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295144" y="29535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764792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</a:t>
            </a: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biến động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764792" y="3922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 phiếu nào rủi ro cao nhất?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480560" y="278892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45152" y="297180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2999232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75504" y="29535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4645152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lượng giao dịch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645152" y="3922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có liên quan đến biến động giá không?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, Q2  |  Xu Hướng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Sinh Lời Tích Lũy</a:t>
            </a:r>
            <a:endParaRPr lang="en-US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3B691C1-6A7A-722D-8461-F8BE9E827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317" y="1188730"/>
            <a:ext cx="4711477" cy="33653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00E605-70EC-B8BD-9A68-50488D620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820" y="1188730"/>
            <a:ext cx="4349415" cy="18640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&amp; Q4  |  Tương Quan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Mức Độ Rủi 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" y="956235"/>
            <a:ext cx="3486375" cy="3759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Q3 — Ma trận tương quan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[Chèn biểu đồ: bieu_do_3_tuong_quan.png]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32095" y="914400"/>
            <a:ext cx="5701552" cy="380103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97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Q4 — Rủi </a:t>
            </a:r>
            <a:r>
              <a:rPr lang="en-US" sz="1300" b="1" dirty="0" err="1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</a:t>
            </a: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và</a:t>
            </a:r>
            <a:r>
              <a:rPr lang="en-US" sz="13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biến động giá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[Chèn biểu đồ: bieu_do_4_rui_ro.png]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D7FC0D-8721-E9B4-6BAE-921C16165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1472065"/>
            <a:ext cx="3432207" cy="25741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2BA4E2-A428-B7F2-9EC1-6BA9E2E0A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527" y="1790302"/>
            <a:ext cx="5637753" cy="20134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  |  Khối Lượng Giao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Dịch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Biến Động Giá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[Chèn biểu đồ: bieu_do_5_volume.png]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8486EE-4770-BE86-A2DD-B6B8DD0CD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429" y="914400"/>
            <a:ext cx="3436171" cy="44179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|  Dự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Đoán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Tăng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Giảm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Cổ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Phiếu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516AF-EFFB-CF75-3CA3-49C96C089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4171576" cy="2017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6A298A-6CAE-DB55-3990-02D6A31EF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31735"/>
            <a:ext cx="4171575" cy="18972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8C7C8C-93D3-D153-F633-10CA46E64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017" y="914400"/>
            <a:ext cx="4225831" cy="20173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902A91-E3A7-9D3C-C653-7DACEAC61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017" y="2943939"/>
            <a:ext cx="4225831" cy="18850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04  |  Phân Cụm Giai Đoạn Thị Trường — K-Means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4CCC20-FE09-74FD-2F37-807ED3B5A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79" y="1024697"/>
            <a:ext cx="7565841" cy="32425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5328" y="-1310640"/>
            <a:ext cx="3200400" cy="32004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7680" y="3553968"/>
            <a:ext cx="2286000" cy="2286000"/>
          </a:xfrm>
          <a:prstGeom prst="ellipse">
            <a:avLst/>
          </a:prstGeom>
          <a:solidFill>
            <a:srgbClr val="FFD54F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183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  |  KẾT LUẬN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4528" y="746760"/>
            <a:ext cx="1828800" cy="36576"/>
          </a:xfrm>
          <a:prstGeom prst="rect">
            <a:avLst/>
          </a:prstGeom>
          <a:solidFill>
            <a:srgbClr val="FFD54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" y="10850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0016" y="9936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Xác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định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4 giai đoạn thị trường: COVID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sụt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giảm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bong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bóng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công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nghệ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lãi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suất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tăng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, AI Boom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" y="1725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0016" y="1633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cổ phiếu đều sinh lời dương qua giai đoạn 2019–2024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" y="236524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0016" y="22738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Tương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cao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(&gt; 0.85) — Big Tech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phản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ứng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cùng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chiều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với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yếu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tố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vĩ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mô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28" y="3005328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0016" y="291388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Dự</a:t>
            </a: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đoán xu hướng ngắn hạn với khoảng tin cậy rõ ràng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528" y="3645408"/>
            <a:ext cx="347472" cy="3474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0016" y="3553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K-Means phân cụm thành công 3 chế độ thị trường phù hợp thực tế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7E2887-1C39-8CBC-A39E-66BB3E680303}"/>
              </a:ext>
            </a:extLst>
          </p:cNvPr>
          <p:cNvSpPr txBox="1"/>
          <p:nvPr/>
        </p:nvSpPr>
        <p:spPr>
          <a:xfrm>
            <a:off x="719328" y="4248912"/>
            <a:ext cx="56327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rủi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(volatility)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nhất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MSFT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ổn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nhất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nhóm</a:t>
            </a:r>
            <a:endParaRPr lang="en-US" sz="1300" dirty="0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6994983A-A73A-345D-EBF9-A66034695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28" y="4196876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D54F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XIN CẢM ƠN!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3127248"/>
            <a:ext cx="2743200" cy="36576"/>
          </a:xfrm>
          <a:prstGeom prst="rect">
            <a:avLst/>
          </a:prstGeom>
          <a:solidFill>
            <a:srgbClr val="FFD5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2062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5555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AAPL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30552" y="42062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0A4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MSFT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03904" y="42062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34A85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GOOGL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77256" y="42062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1877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77256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50608" y="42062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F99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AMZN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312</TotalTime>
  <Words>945</Words>
  <Application>Microsoft Office PowerPoint</Application>
  <PresentationFormat>On-screen Show (16:9)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Gill Sans MT</vt:lpstr>
      <vt:lpstr>Times New Roman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và Dự đoán Giá Cổ phiếu Big Tech 2019–2024</dc:title>
  <dc:subject>PptxGenJS Presentation</dc:subject>
  <dc:creator>PptxGenJS</dc:creator>
  <cp:lastModifiedBy>Administrator</cp:lastModifiedBy>
  <cp:revision>5</cp:revision>
  <dcterms:created xsi:type="dcterms:W3CDTF">2026-06-10T02:36:50Z</dcterms:created>
  <dcterms:modified xsi:type="dcterms:W3CDTF">2026-06-23T04:51:15Z</dcterms:modified>
</cp:coreProperties>
</file>